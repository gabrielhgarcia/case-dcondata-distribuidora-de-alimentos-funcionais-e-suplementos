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bruta (R$ mil)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jan/25</c:v>
                  </c:pt>
                  <c:pt idx="1">
                    <c:v>fev/25</c:v>
                  </c:pt>
                  <c:pt idx="2">
                    <c:v>mar/25</c:v>
                  </c:pt>
                  <c:pt idx="3">
                    <c:v>abr/25</c:v>
                  </c:pt>
                  <c:pt idx="4">
                    <c:v>mai/25</c:v>
                  </c:pt>
                  <c:pt idx="5">
                    <c:v>jun/25</c:v>
                  </c:pt>
                  <c:pt idx="6">
                    <c:v>jul/25</c:v>
                  </c:pt>
                  <c:pt idx="7">
                    <c:v>ago/25</c:v>
                  </c:pt>
                  <c:pt idx="8">
                    <c:v>set/25</c:v>
                  </c:pt>
                  <c:pt idx="9">
                    <c:v>out/25</c:v>
                  </c:pt>
                  <c:pt idx="10">
                    <c:v>nov/25</c:v>
                  </c:pt>
                  <c:pt idx="11">
                    <c:v>dez/25</c:v>
                  </c:pt>
                  <c:pt idx="12">
                    <c:v>jan/26</c:v>
                  </c:pt>
                  <c:pt idx="13">
                    <c:v>fev/26</c:v>
                  </c:pt>
                  <c:pt idx="14">
                    <c:v>mar/26</c:v>
                  </c:pt>
                  <c:pt idx="15">
                    <c:v>abr/26</c:v>
                  </c:pt>
                  <c:pt idx="16">
                    <c:v>mai/26</c:v>
                  </c:pt>
                  <c:pt idx="17">
                    <c:v>jun/26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502</c:v>
                </c:pt>
                <c:pt idx="1">
                  <c:v>493</c:v>
                </c:pt>
                <c:pt idx="2">
                  <c:v>500</c:v>
                </c:pt>
                <c:pt idx="3">
                  <c:v>496</c:v>
                </c:pt>
                <c:pt idx="4">
                  <c:v>459</c:v>
                </c:pt>
                <c:pt idx="5">
                  <c:v>495</c:v>
                </c:pt>
                <c:pt idx="6">
                  <c:v>537</c:v>
                </c:pt>
                <c:pt idx="7">
                  <c:v>531</c:v>
                </c:pt>
                <c:pt idx="8">
                  <c:v>481</c:v>
                </c:pt>
                <c:pt idx="9">
                  <c:v>502</c:v>
                </c:pt>
                <c:pt idx="10">
                  <c:v>610</c:v>
                </c:pt>
                <c:pt idx="11">
                  <c:v>497</c:v>
                </c:pt>
                <c:pt idx="12">
                  <c:v>645</c:v>
                </c:pt>
                <c:pt idx="13">
                  <c:v>661</c:v>
                </c:pt>
                <c:pt idx="14">
                  <c:v>643</c:v>
                </c:pt>
                <c:pt idx="15">
                  <c:v>627</c:v>
                </c:pt>
                <c:pt idx="16">
                  <c:v>625</c:v>
                </c:pt>
                <c:pt idx="17">
                  <c:v>646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Desconto (% da receita)</c:v>
                </c:pt>
              </c:strCache>
            </c:strRef>
          </c:tx>
          <c:spPr>
            <a:solidFill>
              <a:srgbClr val="E8734A"/>
            </a:solidFill>
            <a:ln w="38100" cap="flat">
              <a:solidFill>
                <a:srgbClr val="E87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34A"/>
              </a:solidFill>
              <a:ln w="9525" cap="flat">
                <a:solidFill>
                  <a:srgbClr val="E87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jan/25</c:v>
                  </c:pt>
                  <c:pt idx="1">
                    <c:v>fev/25</c:v>
                  </c:pt>
                  <c:pt idx="2">
                    <c:v>mar/25</c:v>
                  </c:pt>
                  <c:pt idx="3">
                    <c:v>abr/25</c:v>
                  </c:pt>
                  <c:pt idx="4">
                    <c:v>mai/25</c:v>
                  </c:pt>
                  <c:pt idx="5">
                    <c:v>jun/25</c:v>
                  </c:pt>
                  <c:pt idx="6">
                    <c:v>jul/25</c:v>
                  </c:pt>
                  <c:pt idx="7">
                    <c:v>ago/25</c:v>
                  </c:pt>
                  <c:pt idx="8">
                    <c:v>set/25</c:v>
                  </c:pt>
                  <c:pt idx="9">
                    <c:v>out/25</c:v>
                  </c:pt>
                  <c:pt idx="10">
                    <c:v>nov/25</c:v>
                  </c:pt>
                  <c:pt idx="11">
                    <c:v>dez/25</c:v>
                  </c:pt>
                  <c:pt idx="12">
                    <c:v>jan/26</c:v>
                  </c:pt>
                  <c:pt idx="13">
                    <c:v>fev/26</c:v>
                  </c:pt>
                  <c:pt idx="14">
                    <c:v>mar/26</c:v>
                  </c:pt>
                  <c:pt idx="15">
                    <c:v>abr/26</c:v>
                  </c:pt>
                  <c:pt idx="16">
                    <c:v>mai/26</c:v>
                  </c:pt>
                  <c:pt idx="17">
                    <c:v>jun/26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13.8</c:v>
                </c:pt>
                <c:pt idx="1">
                  <c:v>13.8</c:v>
                </c:pt>
                <c:pt idx="2">
                  <c:v>14.1</c:v>
                </c:pt>
                <c:pt idx="3">
                  <c:v>13.5</c:v>
                </c:pt>
                <c:pt idx="4">
                  <c:v>13.5</c:v>
                </c:pt>
                <c:pt idx="5">
                  <c:v>13.5</c:v>
                </c:pt>
                <c:pt idx="6">
                  <c:v>13.6</c:v>
                </c:pt>
                <c:pt idx="7">
                  <c:v>13.6</c:v>
                </c:pt>
                <c:pt idx="8">
                  <c:v>13.5</c:v>
                </c:pt>
                <c:pt idx="9">
                  <c:v>13.4</c:v>
                </c:pt>
                <c:pt idx="10">
                  <c:v>15.8</c:v>
                </c:pt>
                <c:pt idx="11">
                  <c:v>13.6</c:v>
                </c:pt>
                <c:pt idx="12">
                  <c:v>16.1</c:v>
                </c:pt>
                <c:pt idx="13">
                  <c:v>16.3</c:v>
                </c:pt>
                <c:pt idx="14">
                  <c:v>18.6</c:v>
                </c:pt>
                <c:pt idx="15">
                  <c:v>18.9</c:v>
                </c:pt>
                <c:pt idx="16">
                  <c:v>16.1</c:v>
                </c:pt>
                <c:pt idx="17">
                  <c:v>18.7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1E2761"/>
                    </a:solidFill>
                    <a:latin typeface="Arial"/>
                  </a:rPr>
                  <a:t>Receita (R$ mil)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E8734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E8734A"/>
                    </a:solidFill>
                    <a:latin typeface="Arial"/>
                  </a:rPr>
                  <a:t>Desconto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(R$)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jan/25</c:v>
                  </c:pt>
                  <c:pt idx="1">
                    <c:v>fev/25</c:v>
                  </c:pt>
                  <c:pt idx="2">
                    <c:v>mar/25</c:v>
                  </c:pt>
                  <c:pt idx="3">
                    <c:v>abr/25</c:v>
                  </c:pt>
                  <c:pt idx="4">
                    <c:v>mai/25</c:v>
                  </c:pt>
                  <c:pt idx="5">
                    <c:v>jun/25</c:v>
                  </c:pt>
                  <c:pt idx="6">
                    <c:v>jul/25</c:v>
                  </c:pt>
                  <c:pt idx="7">
                    <c:v>ago/25</c:v>
                  </c:pt>
                  <c:pt idx="8">
                    <c:v>set/25</c:v>
                  </c:pt>
                  <c:pt idx="9">
                    <c:v>out/25</c:v>
                  </c:pt>
                  <c:pt idx="10">
                    <c:v>nov/25</c:v>
                  </c:pt>
                  <c:pt idx="11">
                    <c:v>dez/25</c:v>
                  </c:pt>
                  <c:pt idx="12">
                    <c:v>jan/26</c:v>
                  </c:pt>
                  <c:pt idx="13">
                    <c:v>fev/26</c:v>
                  </c:pt>
                  <c:pt idx="14">
                    <c:v>mar/26</c:v>
                  </c:pt>
                  <c:pt idx="15">
                    <c:v>abr/26</c:v>
                  </c:pt>
                  <c:pt idx="16">
                    <c:v>mai/26</c:v>
                  </c:pt>
                  <c:pt idx="17">
                    <c:v>jun/26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91.9</c:v>
                </c:pt>
                <c:pt idx="1">
                  <c:v>88.2</c:v>
                </c:pt>
                <c:pt idx="2">
                  <c:v>90.2</c:v>
                </c:pt>
                <c:pt idx="3">
                  <c:v>89.8</c:v>
                </c:pt>
                <c:pt idx="4">
                  <c:v>92.8</c:v>
                </c:pt>
                <c:pt idx="5">
                  <c:v>94.2</c:v>
                </c:pt>
                <c:pt idx="6">
                  <c:v>89.6</c:v>
                </c:pt>
                <c:pt idx="7">
                  <c:v>87.2</c:v>
                </c:pt>
                <c:pt idx="8">
                  <c:v>88.6</c:v>
                </c:pt>
                <c:pt idx="9">
                  <c:v>86.4</c:v>
                </c:pt>
                <c:pt idx="10">
                  <c:v>90.2</c:v>
                </c:pt>
                <c:pt idx="11">
                  <c:v>87.9</c:v>
                </c:pt>
                <c:pt idx="12">
                  <c:v>114.9</c:v>
                </c:pt>
                <c:pt idx="13">
                  <c:v>110.8</c:v>
                </c:pt>
                <c:pt idx="14">
                  <c:v>120.2</c:v>
                </c:pt>
                <c:pt idx="15">
                  <c:v>115.7</c:v>
                </c:pt>
                <c:pt idx="16">
                  <c:v>117.8</c:v>
                </c:pt>
                <c:pt idx="17">
                  <c:v>112.2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1E2761"/>
                    </a:solidFill>
                    <a:latin typeface="Arial"/>
                  </a:rPr>
                  <a:t>CAC (R$)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pedidos expedidos no prazo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jan/25</c:v>
                  </c:pt>
                  <c:pt idx="1">
                    <c:v>fev/25</c:v>
                  </c:pt>
                  <c:pt idx="2">
                    <c:v>mar/25</c:v>
                  </c:pt>
                  <c:pt idx="3">
                    <c:v>abr/25</c:v>
                  </c:pt>
                  <c:pt idx="4">
                    <c:v>mai/25</c:v>
                  </c:pt>
                  <c:pt idx="5">
                    <c:v>jun/25</c:v>
                  </c:pt>
                  <c:pt idx="6">
                    <c:v>jul/25</c:v>
                  </c:pt>
                  <c:pt idx="7">
                    <c:v>ago/25</c:v>
                  </c:pt>
                  <c:pt idx="8">
                    <c:v>set/25</c:v>
                  </c:pt>
                  <c:pt idx="9">
                    <c:v>out/25</c:v>
                  </c:pt>
                  <c:pt idx="10">
                    <c:v>nov/25</c:v>
                  </c:pt>
                  <c:pt idx="11">
                    <c:v>dez/25</c:v>
                  </c:pt>
                  <c:pt idx="12">
                    <c:v>jan/26</c:v>
                  </c:pt>
                  <c:pt idx="13">
                    <c:v>fev/26</c:v>
                  </c:pt>
                  <c:pt idx="14">
                    <c:v>mar/26</c:v>
                  </c:pt>
                  <c:pt idx="15">
                    <c:v>abr/26</c:v>
                  </c:pt>
                  <c:pt idx="16">
                    <c:v>mai/26</c:v>
                  </c:pt>
                  <c:pt idx="17">
                    <c:v>jun/26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90.2</c:v>
                </c:pt>
                <c:pt idx="1">
                  <c:v>87.9</c:v>
                </c:pt>
                <c:pt idx="2">
                  <c:v>84.8</c:v>
                </c:pt>
                <c:pt idx="3">
                  <c:v>85.7</c:v>
                </c:pt>
                <c:pt idx="4">
                  <c:v>85.3</c:v>
                </c:pt>
                <c:pt idx="5">
                  <c:v>87.7</c:v>
                </c:pt>
                <c:pt idx="6">
                  <c:v>83.8</c:v>
                </c:pt>
                <c:pt idx="7">
                  <c:v>80.4</c:v>
                </c:pt>
                <c:pt idx="8">
                  <c:v>83.8</c:v>
                </c:pt>
                <c:pt idx="9">
                  <c:v>83.8</c:v>
                </c:pt>
                <c:pt idx="10">
                  <c:v>71.6</c:v>
                </c:pt>
                <c:pt idx="11">
                  <c:v>78.9</c:v>
                </c:pt>
                <c:pt idx="12">
                  <c:v>72.2</c:v>
                </c:pt>
                <c:pt idx="13">
                  <c:v>73.6</c:v>
                </c:pt>
                <c:pt idx="14">
                  <c:v>64.9</c:v>
                </c:pt>
                <c:pt idx="15">
                  <c:v>64.8</c:v>
                </c:pt>
                <c:pt idx="16">
                  <c:v>69.5</c:v>
                </c:pt>
                <c:pt idx="17">
                  <c:v>61.3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% horas extras / disponíveis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jan/25</c:v>
                  </c:pt>
                  <c:pt idx="1">
                    <c:v>fev/25</c:v>
                  </c:pt>
                  <c:pt idx="2">
                    <c:v>mar/25</c:v>
                  </c:pt>
                  <c:pt idx="3">
                    <c:v>abr/25</c:v>
                  </c:pt>
                  <c:pt idx="4">
                    <c:v>mai/25</c:v>
                  </c:pt>
                  <c:pt idx="5">
                    <c:v>jun/25</c:v>
                  </c:pt>
                  <c:pt idx="6">
                    <c:v>jul/25</c:v>
                  </c:pt>
                  <c:pt idx="7">
                    <c:v>ago/25</c:v>
                  </c:pt>
                  <c:pt idx="8">
                    <c:v>set/25</c:v>
                  </c:pt>
                  <c:pt idx="9">
                    <c:v>out/25</c:v>
                  </c:pt>
                  <c:pt idx="10">
                    <c:v>nov/25</c:v>
                  </c:pt>
                  <c:pt idx="11">
                    <c:v>dez/25</c:v>
                  </c:pt>
                  <c:pt idx="12">
                    <c:v>jan/26</c:v>
                  </c:pt>
                  <c:pt idx="13">
                    <c:v>fev/26</c:v>
                  </c:pt>
                  <c:pt idx="14">
                    <c:v>mar/26</c:v>
                  </c:pt>
                  <c:pt idx="15">
                    <c:v>abr/26</c:v>
                  </c:pt>
                  <c:pt idx="16">
                    <c:v>mai/26</c:v>
                  </c:pt>
                  <c:pt idx="17">
                    <c:v>jun/26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5.4</c:v>
                </c:pt>
                <c:pt idx="1">
                  <c:v>6.5</c:v>
                </c:pt>
                <c:pt idx="2">
                  <c:v>6.9</c:v>
                </c:pt>
                <c:pt idx="3">
                  <c:v>9.1</c:v>
                </c:pt>
                <c:pt idx="4">
                  <c:v>3.1</c:v>
                </c:pt>
                <c:pt idx="5">
                  <c:v>4.6</c:v>
                </c:pt>
                <c:pt idx="6">
                  <c:v>1.8</c:v>
                </c:pt>
                <c:pt idx="7">
                  <c:v>7.8</c:v>
                </c:pt>
                <c:pt idx="8">
                  <c:v>5.4</c:v>
                </c:pt>
                <c:pt idx="9">
                  <c:v>3.6</c:v>
                </c:pt>
                <c:pt idx="10">
                  <c:v>23.6</c:v>
                </c:pt>
                <c:pt idx="11">
                  <c:v>16.6</c:v>
                </c:pt>
                <c:pt idx="12">
                  <c:v>8.8</c:v>
                </c:pt>
                <c:pt idx="13">
                  <c:v>8.4</c:v>
                </c:pt>
                <c:pt idx="14">
                  <c:v>27</c:v>
                </c:pt>
                <c:pt idx="15">
                  <c:v>21.1</c:v>
                </c:pt>
                <c:pt idx="16">
                  <c:v>7.1</c:v>
                </c:pt>
                <c:pt idx="17">
                  <c:v>30.1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5"/>
        <c:axId val="2094734553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1E2761"/>
                    </a:solidFill>
                    <a:latin typeface="Arial"/>
                  </a:rPr>
                  <a:t>SLA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E8734A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E8734A"/>
                    </a:solidFill>
                    <a:latin typeface="Arial"/>
                  </a:rPr>
                  <a:t>Horas extra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clientes recorrentes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Indicação</c:v>
                  </c:pt>
                  <c:pt idx="1">
                    <c:v>CRM</c:v>
                  </c:pt>
                  <c:pt idx="2">
                    <c:v>Orgânico</c:v>
                  </c:pt>
                  <c:pt idx="3">
                    <c:v>Busca paga</c:v>
                  </c:pt>
                  <c:pt idx="4">
                    <c:v>Social pago</c:v>
                  </c:pt>
                  <c:pt idx="5">
                    <c:v>Influenciador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79.1</c:v>
                </c:pt>
                <c:pt idx="1">
                  <c:v>74.8</c:v>
                </c:pt>
                <c:pt idx="2">
                  <c:v>77.4</c:v>
                </c:pt>
                <c:pt idx="3">
                  <c:v>67.8</c:v>
                </c:pt>
                <c:pt idx="4">
                  <c:v>59.6</c:v>
                </c:pt>
                <c:pt idx="5">
                  <c:v>38.1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% recorrente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Semanas médias em ruptura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Classe A</c:v>
                  </c:pt>
                  <c:pt idx="1">
                    <c:v>Classe B</c:v>
                  </c:pt>
                  <c:pt idx="2">
                    <c:v>Classe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0.2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Semanas em ruptura (média)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Distribuidora de Alimentos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Funcionais e Suplementos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crescimento, rentabilidade e capacidade operacional — e um caminho para crescer sem comprometer o resultado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8100">
            <a:solidFill>
              <a:srgbClr val="E87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de Análise de Dados  |  Processo Seletivo DconData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Garcia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1887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crescimento recente está sendo parcialmente comprado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desconto, frete subsidiado e custo de aquisição crescente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a operação, com capacidade fixa, já não sustenta o ritmo atual. A saída não é crescer menos: é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redirecionar canal, cliente e produto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acelerar mais.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606040" cy="1600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pedidos/mês no e-commerce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2025 e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3063240"/>
            <a:ext cx="2606040" cy="1600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sobre receita bruta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pico (vs. 13,5% na base)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3063240"/>
            <a:ext cx="2606040" cy="1600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do CAC em 2026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média de 2025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52560" y="3063240"/>
            <a:ext cx="2606040" cy="16002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-24 p.p.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9720" y="39776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no SLA de expedição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(90% → 61% no pior mês)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da análise: conecta o diagnóstico agregado (crescimento x rentabilidade x operação) com a segmentação de canal, cliente e produto — para transformar o achado em recomendação priorizável.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crescimento tem um custo crescente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mensal (barras) vs. % de desconto sobre receita (linha) — E-commerce + B2B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nov/25 (pico sazonal) e consolidando em jan/26, o desconto sobre receita salta de ~13,5% para 16-19% — o crescimento de volume vem acompanhado de margem cedida.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Aquisição mais cara, sem eficiência proporcional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aquisição de cliente (CAC) mensal — investimento em mídia / novos clientes atribuídos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2237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54480"/>
            <a:ext cx="3611880" cy="43891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está por trás disso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0" y="2240280"/>
            <a:ext cx="3246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mensal em mídia quase dobra entre 2025 e 2026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sobe em todas as plataformas: Google (+25%), Meta (+25%), Influenciador (+25%)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cai em todas — inclusive nas melhores plataformas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 é o canal mais caro e o que mais recebeu verba adicional (+131%)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operação não escalou junto com o volume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fixo em 2 pessoas/turno nos 18 meses — SLA de expedição (linha) vs. % de horas extras sobre disponíveis (barra)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64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cai de ~90% para ~61% nos meses de pico, exatamente quando as horas extras ultrapassam 20-30% das horas disponíveis. Sábado extra nunca foi ativado no período — alavanca de capacidade disponível e não usada.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toda aquisição vale o mesmo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clientes B2C por canal de aquisição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43434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do achado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Indicação, CRM e orgânico: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75-79% de recorrência, ticket médio ~R$1.400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pago: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de recorrência, ~R$958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4160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Influenciador: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de recorrência, ~R$707 — pior canal em qualidade, e o que mais recebeu aumento de verba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5166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aquisição sem olhar qualidade do cliente infla CAC sem construir receita recorrente.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compra está desalinhada com a venda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médias em ruptura de estoque, por classe de receita (curva ABC)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160520" cy="43434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do achado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2331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 (80% da receita):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ruptura 6,3 semanas em média — alguns itens chegam a 14-15 semanas sem estoque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0" y="33375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R$ 200 mil+ em capital parado, giro baixo, zero semanas em ruptura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4343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% semelhante entre classes (~34%):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o produto, é a política de compra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pública: câmbio como apoio à leitura de custo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do Brasil — Série SGS 1 (PTAX, dólar venda)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06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essa fonte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dos 180 produtos são importados, com compra em USD. 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PTAX oficial permite: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o único registro de câmbio faltante em compras.csv com o dado oficial do dia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 spread cambial praticado pela empresa vs. a taxa oficial do dia do evento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Separar, no custo de compra importada, o que é câmbio de mercado do que é negociação com fornecedor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691640"/>
            <a:ext cx="562356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2011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api.bcb.gov.br/dados/serie/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bcdata.sgs.1/dados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8803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via merge_asof (pandas), casando cada compra importada com a PTAX do dia do evento de câmbio — ou do dia útil anterior mais próximo, quando não há pregão.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3977640"/>
            <a:ext cx="5029200" cy="1005840"/>
          </a:xfrm>
          <a:prstGeom prst="rect">
            <a:avLst/>
          </a:prstGeom>
          <a:solidFill>
            <a:srgbClr val="2A3577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4096512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cambial médio de 2,45% entre a taxa praticada pela empresa e a PTAX oficial — indica que o custo de importado é explicado majoritariamente por câmbio de mercado, não por sobrepreço de negociação.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5212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 entregue em: integracao_bacen_cambio.py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 priorizadas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6 meses — crescer direcionado, não crescer mais rápido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Realocar verba de aquisição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investimento em Influenciador (pior recorrência e ROAS); redirecionar para orgânico/CRM/indicação, que já entregam recorrência 2x maior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965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7830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Corrigir a política de compra por classe ABC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78040" y="225856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disponibilidade dos itens classe A (hoje em ruptura recorrente); reduzir reposição automática dos itens B/C parados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49240" cy="1965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9776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Destravar capacidade antes de acelerar mais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445312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turno de sábado extra (nunca usado) nos picos sazonais antes de qualquer novo investimento em aquisição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49240" cy="1965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9776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desconto e frete por canal/cliente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78040" y="4453128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Descontos e subsídio de frete cresceram sem critério claro de recorrência — atrelar a regras por segmento de cliente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Premissas, limitações e próximos passos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e tratamentos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em taxa_cambio_interna: 592 são compras nacionais (esperado); só 1 registro importado foi de fato tratado via PTAX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itens sem custo histórico (92 produtos): usado custo_atual como aproximação, sinalizado no dado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de produto com grafia divergente normalizada ("Proteínas &amp; recuperação" → "Proteínas e recuperação")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contribuição calculada por item (preço − desconto − custo), sem rateio de frete/comissão por produto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trabalho — próximos passos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196596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Validar recomendações com Marketing, Comercial e Operação (cada área lê os dados hoje de forma isolada)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Definir metas por canal de aquisição (recorrência mínima, não só CAC)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Redesenhar a política de compra por classe ABC e reavaliar SLA de fornecedores importados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Rodar piloto de sábado extra em 1-2 picos sazonais e medir impacto no SLA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Acompanhar mensalmente: desconto %, CAC, SLA e ruptura classe A no mesmo painel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Negócio | Consultor de Análise de Dados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2026-08-11T20:13:30Z</dcterms:created>
  <dcterms:modified xsi:type="dcterms:W3CDTF">2026-08-11T20:13:30Z</dcterms:modified>
</cp:coreProperties>
</file>